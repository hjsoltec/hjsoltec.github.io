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63380c42d4f9d" /><Relationship Type="http://schemas.openxmlformats.org/officeDocument/2006/relationships/extended-properties" Target="/docProps/app.xml" Id="Re8b080f84ada4c24" /><Relationship Type="http://schemas.openxmlformats.org/officeDocument/2006/relationships/officeDocument" Target="/ppt/presentation.xml" Id="R5308a8cf345c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2add15df0847a1"/>
  </p:sldMasterIdLst>
  <p:notesMasterIdLst>
    <p:notesMasterId xmlns:r="http://schemas.openxmlformats.org/officeDocument/2006/relationships" r:id="Re94699111f4143ea"/>
  </p:notesMasterIdLst>
  <p:sldIdLst>
    <p:sldId xmlns:r="http://schemas.openxmlformats.org/officeDocument/2006/relationships" id="256" r:id="Rd721f30debb34e0f"/>
    <p:sldId xmlns:r="http://schemas.openxmlformats.org/officeDocument/2006/relationships" id="257" r:id="R0932f362a9004f27"/>
    <p:sldId xmlns:r="http://schemas.openxmlformats.org/officeDocument/2006/relationships" id="258" r:id="R1b8f1ed7c6db41d9"/>
    <p:sldId xmlns:r="http://schemas.openxmlformats.org/officeDocument/2006/relationships" id="259" r:id="R8b58fee5bea045a0"/>
    <p:sldId xmlns:r="http://schemas.openxmlformats.org/officeDocument/2006/relationships" id="260" r:id="R3602b51fd6824953"/>
    <p:sldId xmlns:r="http://schemas.openxmlformats.org/officeDocument/2006/relationships" id="261" r:id="R22b5d00c93d7436b"/>
    <p:sldId xmlns:r="http://schemas.openxmlformats.org/officeDocument/2006/relationships" id="262" r:id="R42a83dd7e2434da8"/>
    <p:sldId xmlns:r="http://schemas.openxmlformats.org/officeDocument/2006/relationships" id="263" r:id="Re250d0a9aa704465"/>
    <p:sldId xmlns:r="http://schemas.openxmlformats.org/officeDocument/2006/relationships" id="264" r:id="R9528deb1893642a9"/>
    <p:sldId xmlns:r="http://schemas.openxmlformats.org/officeDocument/2006/relationships" id="265" r:id="Rc56e2b491ff94238"/>
    <p:sldId xmlns:r="http://schemas.openxmlformats.org/officeDocument/2006/relationships" id="266" r:id="R6fde89a97ce44e5c"/>
    <p:sldId xmlns:r="http://schemas.openxmlformats.org/officeDocument/2006/relationships" id="267" r:id="R4846926886f74ad7"/>
    <p:sldId xmlns:r="http://schemas.openxmlformats.org/officeDocument/2006/relationships" id="268" r:id="Rf064be0c23fa425b"/>
    <p:sldId xmlns:r="http://schemas.openxmlformats.org/officeDocument/2006/relationships" id="269" r:id="R6e6b67c724e14b5c"/>
    <p:sldId xmlns:r="http://schemas.openxmlformats.org/officeDocument/2006/relationships" id="270" r:id="R425873af6c7f45d6"/>
    <p:sldId xmlns:r="http://schemas.openxmlformats.org/officeDocument/2006/relationships" id="271" r:id="Rabd6e1ce1d514a13"/>
    <p:sldId xmlns:r="http://schemas.openxmlformats.org/officeDocument/2006/relationships" id="272" r:id="R2521b04240074109"/>
    <p:sldId xmlns:r="http://schemas.openxmlformats.org/officeDocument/2006/relationships" id="273" r:id="R252772a6707448d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8bd3a7349049dc" /><Relationship Type="http://schemas.openxmlformats.org/officeDocument/2006/relationships/slideMaster" Target="/ppt/slideMasters/slideMaster1.xml" Id="R202add15df0847a1" /><Relationship Type="http://schemas.openxmlformats.org/officeDocument/2006/relationships/notesMaster" Target="/ppt/notesMasters/notesMaster1.xml" Id="Re94699111f4143ea" /><Relationship Type="http://schemas.openxmlformats.org/officeDocument/2006/relationships/presProps" Target="/ppt/presProps.xml" Id="R5c4b9522f2364c12" /><Relationship Type="http://schemas.openxmlformats.org/officeDocument/2006/relationships/tableStyles" Target="/ppt/tableStyles.xml" Id="R1fed5208f15842c8" /><Relationship Type="http://schemas.openxmlformats.org/officeDocument/2006/relationships/slide" Target="/ppt/slides/slide1.xml" Id="Rd721f30debb34e0f" /><Relationship Type="http://schemas.openxmlformats.org/officeDocument/2006/relationships/slide" Target="/ppt/slides/slide2.xml" Id="R0932f362a9004f27" /><Relationship Type="http://schemas.openxmlformats.org/officeDocument/2006/relationships/slide" Target="/ppt/slides/slide3.xml" Id="R1b8f1ed7c6db41d9" /><Relationship Type="http://schemas.openxmlformats.org/officeDocument/2006/relationships/slide" Target="/ppt/slides/slide4.xml" Id="R8b58fee5bea045a0" /><Relationship Type="http://schemas.openxmlformats.org/officeDocument/2006/relationships/slide" Target="/ppt/slides/slide5.xml" Id="R3602b51fd6824953" /><Relationship Type="http://schemas.openxmlformats.org/officeDocument/2006/relationships/slide" Target="/ppt/slides/slide6.xml" Id="R22b5d00c93d7436b" /><Relationship Type="http://schemas.openxmlformats.org/officeDocument/2006/relationships/slide" Target="/ppt/slides/slide7.xml" Id="R42a83dd7e2434da8" /><Relationship Type="http://schemas.openxmlformats.org/officeDocument/2006/relationships/slide" Target="/ppt/slides/slide8.xml" Id="Re250d0a9aa704465" /><Relationship Type="http://schemas.openxmlformats.org/officeDocument/2006/relationships/slide" Target="/ppt/slides/slide9.xml" Id="R9528deb1893642a9" /><Relationship Type="http://schemas.openxmlformats.org/officeDocument/2006/relationships/slide" Target="/ppt/slides/slide10.xml" Id="Rc56e2b491ff94238" /><Relationship Type="http://schemas.openxmlformats.org/officeDocument/2006/relationships/slide" Target="/ppt/slides/slide11.xml" Id="R6fde89a97ce44e5c" /><Relationship Type="http://schemas.openxmlformats.org/officeDocument/2006/relationships/slide" Target="/ppt/slides/slide12.xml" Id="R4846926886f74ad7" /><Relationship Type="http://schemas.openxmlformats.org/officeDocument/2006/relationships/slide" Target="/ppt/slides/slide13.xml" Id="Rf064be0c23fa425b" /><Relationship Type="http://schemas.openxmlformats.org/officeDocument/2006/relationships/slide" Target="/ppt/slides/slide14.xml" Id="R6e6b67c724e14b5c" /><Relationship Type="http://schemas.openxmlformats.org/officeDocument/2006/relationships/slide" Target="/ppt/slides/slide15.xml" Id="R425873af6c7f45d6" /><Relationship Type="http://schemas.openxmlformats.org/officeDocument/2006/relationships/slide" Target="/ppt/slides/slide16.xml" Id="Rabd6e1ce1d514a13" /><Relationship Type="http://schemas.openxmlformats.org/officeDocument/2006/relationships/slide" Target="/ppt/slides/slide17.xml" Id="R2521b04240074109" /><Relationship Type="http://schemas.openxmlformats.org/officeDocument/2006/relationships/slide" Target="/ppt/slides/slide18.xml" Id="R252772a6707448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9f32e4db5b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cfa6b6e5642cf" /><Relationship Type="http://schemas.openxmlformats.org/officeDocument/2006/relationships/notesMaster" Target="/ppt/notesMasters/notesMaster1.xml" Id="R8028554aa9c3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648ddf24024517" /><Relationship Type="http://schemas.openxmlformats.org/officeDocument/2006/relationships/notesMaster" Target="/ppt/notesMasters/notesMaster1.xml" Id="R29942e3bb814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fe07deaf9041b0" /><Relationship Type="http://schemas.openxmlformats.org/officeDocument/2006/relationships/notesMaster" Target="/ppt/notesMasters/notesMaster1.xml" Id="R80ef2bae8dab40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3d118637d64308" /><Relationship Type="http://schemas.openxmlformats.org/officeDocument/2006/relationships/notesMaster" Target="/ppt/notesMasters/notesMaster1.xml" Id="Re564e702e7964a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ab475acb884960" /><Relationship Type="http://schemas.openxmlformats.org/officeDocument/2006/relationships/notesMaster" Target="/ppt/notesMasters/notesMaster1.xml" Id="R352a59cc20c044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1418913b73497e" /><Relationship Type="http://schemas.openxmlformats.org/officeDocument/2006/relationships/notesMaster" Target="/ppt/notesMasters/notesMaster1.xml" Id="R32da7296c61243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60104d08b43d0" /><Relationship Type="http://schemas.openxmlformats.org/officeDocument/2006/relationships/notesMaster" Target="/ppt/notesMasters/notesMaster1.xml" Id="R47770c5bbe3245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d01686344a48e7" /><Relationship Type="http://schemas.openxmlformats.org/officeDocument/2006/relationships/notesMaster" Target="/ppt/notesMasters/notesMaster1.xml" Id="R991242c7a1114f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3069f0bf344970" /><Relationship Type="http://schemas.openxmlformats.org/officeDocument/2006/relationships/notesMaster" Target="/ppt/notesMasters/notesMaster1.xml" Id="R067da017555949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0178a5ddb5446c" /><Relationship Type="http://schemas.openxmlformats.org/officeDocument/2006/relationships/notesMaster" Target="/ppt/notesMasters/notesMaster1.xml" Id="Rd9a2b1ba9ae141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fb5532dad0484d" /><Relationship Type="http://schemas.openxmlformats.org/officeDocument/2006/relationships/notesMaster" Target="/ppt/notesMasters/notesMaster1.xml" Id="R80d1edfb51354c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84fa5d4dc2455e" /><Relationship Type="http://schemas.openxmlformats.org/officeDocument/2006/relationships/notesMaster" Target="/ppt/notesMasters/notesMaster1.xml" Id="R6b20e9968b6e45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c85e34753d413b" /><Relationship Type="http://schemas.openxmlformats.org/officeDocument/2006/relationships/notesMaster" Target="/ppt/notesMasters/notesMaster1.xml" Id="R29dddd8f43c845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d79ca91d794263" /><Relationship Type="http://schemas.openxmlformats.org/officeDocument/2006/relationships/notesMaster" Target="/ppt/notesMasters/notesMaster1.xml" Id="R4c9612223d474c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14677bdced492d" /><Relationship Type="http://schemas.openxmlformats.org/officeDocument/2006/relationships/notesMaster" Target="/ppt/notesMasters/notesMaster1.xml" Id="R6cfe703198574f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d3d29768104851" /><Relationship Type="http://schemas.openxmlformats.org/officeDocument/2006/relationships/notesMaster" Target="/ppt/notesMasters/notesMaster1.xml" Id="R76a7ec68264445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fc2965701b4b2f" /><Relationship Type="http://schemas.openxmlformats.org/officeDocument/2006/relationships/notesMaster" Target="/ppt/notesMasters/notesMaster1.xml" Id="R1c27094f62a444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a673f0bee147ca" /><Relationship Type="http://schemas.openxmlformats.org/officeDocument/2006/relationships/notesMaster" Target="/ppt/notesMasters/notesMaster1.xml" Id="Rb2929355b7084c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가칭 제품명으로 정리한 사용자 가이드. 실제 기능을 바탕으로 화면을 재구성했으며 설치 환경에 따라 화면 배치가 달라질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데이터셋 업로드·학습·연구 기능 설정. 사용자 권한과 기존 인증을 준수합니다.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frontend-nextjs/components/ai-workspace/ai-workspace-shell.tsx. 좌측 메뉴와 화면은 설명을 위해 재구성했습니다.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데이터셋 파일 업로드 및 정규화 경로. 파일 형식과 업로드 한도는 설치한 버전의 화면 안내를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실험 데이터 조회·데이터셋 확정. 화면 미리보기와 전체 저장 스냅숏을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ai_workspace/dataset_views.py, 데이터셋 저장·바인딩 경로. 원본 DB 갱신으로 기존 저장 데이터셋을 자동 교체하지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docs/45_dataset_work_isolation_KO.md, ai_workspace/workflow_scope.py. 작업·데이터셋별 이력 보호.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docs/43_sample_training_KO.md, dataset-training-selector.tsx. 공동 학습의 성능 우위를 보장하지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dataset-work-status.tsx, docs/43_sample_training_KO.md. 이 자료에 나온 수치를 실제 모델의 검증 성능으로 사용하지 마십시오.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sample_training.py 검증 보고서, sample_observations.py 예측구간. 예측구간은 조건부 보장이나 전체 목표 동시 충족 확률이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ai-session-analysis-screen.tsx, session AutoML 예측·추천 경로. 수치는 가상입니다.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증분·대체물질 탐색·치환 예측 경로. 탐색 후보와 검증된 사용 가능 원료를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docs/42_original_text_KO.md. 원문 조회와 원본 다운로드는 보존된 파일·본문의 범위에서 제공합니다.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docs/42_original_text_KO.md. 원본 파일과 추출 본문을 구분해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조성 Revision·독립 검토 서비스. 기능 활성화·역할 권한을 충족해야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docs/30_features_KO.md. 실제 시험 결과를 추정해서 기록하지 않습니다. 실측 가져오기 지원 범위는 설치 환경의 기존 API에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데이터셋·실행·결과 다운로드, docs/45_dataset_work_isolation_KO.md. 내보내기 옵션은 실행 유형과 화면에 따라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운영 환경의 장애 해결을 보증하지 않습니다. 민감한 계정·서버·회사 정보를 포함하지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11631d6c94c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790c109e749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7026c719e4d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8dbf2f23244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1c564ba3d48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a17501cca49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7BC34-43A2-4059-A900-7C054945C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79E253-9DD0-43FA-B509-A4978E5368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66CEB8-20D1-4F32-8102-AF80A665B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A5C38-05EB-4998-B858-5F1FEBAE0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1EDF09-CFC1-417A-A1BC-31B08BADF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7000F6-3928-47AB-A6A9-B0A619221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6CC260-212C-4F75-B91C-9C9401460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91594F-C5BB-4731-A202-A953B4396C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6ED174-D7CC-4424-8E57-CFA5DA66B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72B17F-F43A-4DD0-8821-15E252359C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06905e3f04fcb" /><Relationship Type="http://schemas.openxmlformats.org/officeDocument/2006/relationships/slideLayout" Target="/ppt/slideLayouts/slideLayout1.xml" Id="R7215e88d2d264db9" /><Relationship Type="http://schemas.openxmlformats.org/officeDocument/2006/relationships/slideLayout" Target="/ppt/slideLayouts/slideLayout2.xml" Id="R0a49650f15024406" /><Relationship Type="http://schemas.openxmlformats.org/officeDocument/2006/relationships/slideLayout" Target="/ppt/slideLayouts/slideLayout3.xml" Id="R54784f9c86594896" /><Relationship Type="http://schemas.openxmlformats.org/officeDocument/2006/relationships/slideLayout" Target="/ppt/slideLayouts/slideLayout4.xml" Id="R32c402e25c5b4f78" /><Relationship Type="http://schemas.openxmlformats.org/officeDocument/2006/relationships/slideLayout" Target="/ppt/slideLayouts/slideLayout5.xml" Id="R4887cb70845244fd" /><Relationship Type="http://schemas.openxmlformats.org/officeDocument/2006/relationships/slideLayout" Target="/ppt/slideLayouts/slideLayout6.xml" Id="R420c17a0c2df4b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5e88d2d264db9"/>
    <p:sldLayoutId xmlns:r="http://schemas.openxmlformats.org/officeDocument/2006/relationships" id="2147483650" r:id="R0a49650f15024406"/>
    <p:sldLayoutId xmlns:r="http://schemas.openxmlformats.org/officeDocument/2006/relationships" id="2147483651" r:id="R54784f9c86594896"/>
    <p:sldLayoutId xmlns:r="http://schemas.openxmlformats.org/officeDocument/2006/relationships" id="2147483652" r:id="R32c402e25c5b4f78"/>
    <p:sldLayoutId xmlns:r="http://schemas.openxmlformats.org/officeDocument/2006/relationships" id="2147483653" r:id="R4887cb70845244fd"/>
    <p:sldLayoutId xmlns:r="http://schemas.openxmlformats.org/officeDocument/2006/relationships" id="2147483654" r:id="R420c17a0c2df4b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e87f96fd444eb" /><Relationship Type="http://schemas.openxmlformats.org/officeDocument/2006/relationships/notesSlide" Target="/ppt/notesSlides/notesSlide1.xml" Id="Rc6dc74f69a88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f368a2a95467a" /><Relationship Type="http://schemas.openxmlformats.org/officeDocument/2006/relationships/notesSlide" Target="/ppt/notesSlides/notesSlide2.xml" Id="R40ad7ef093ac43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1a17d2ca846be" /><Relationship Type="http://schemas.openxmlformats.org/officeDocument/2006/relationships/image" Target="/ppt/media/image.png" Id="Rd4c565642172470d" /><Relationship Type="http://schemas.openxmlformats.org/officeDocument/2006/relationships/notesSlide" Target="/ppt/notesSlides/notesSlide3.xml" Id="R685c7acdd507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60d29b5414c39" /><Relationship Type="http://schemas.openxmlformats.org/officeDocument/2006/relationships/image" Target="/ppt/media/image2.png" Id="Raa86c37be48f4305" /><Relationship Type="http://schemas.openxmlformats.org/officeDocument/2006/relationships/notesSlide" Target="/ppt/notesSlides/notesSlide4.xml" Id="R3d2d56ddb60b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ae4facfe64e5c" /><Relationship Type="http://schemas.openxmlformats.org/officeDocument/2006/relationships/image" Target="/ppt/media/image3.png" Id="R9598c0defc1144a2" /><Relationship Type="http://schemas.openxmlformats.org/officeDocument/2006/relationships/notesSlide" Target="/ppt/notesSlides/notesSlide5.xml" Id="Rfeddf1071e6c49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4c094d20e4526" /><Relationship Type="http://schemas.openxmlformats.org/officeDocument/2006/relationships/image" Target="/ppt/media/image4.png" Id="R2ae565ce20494713" /><Relationship Type="http://schemas.openxmlformats.org/officeDocument/2006/relationships/notesSlide" Target="/ppt/notesSlides/notesSlide6.xml" Id="R78da819f092b4a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254b2897349ac" /><Relationship Type="http://schemas.openxmlformats.org/officeDocument/2006/relationships/image" Target="/ppt/media/image5.png" Id="R0c4f443220f94c4c" /><Relationship Type="http://schemas.openxmlformats.org/officeDocument/2006/relationships/notesSlide" Target="/ppt/notesSlides/notesSlide7.xml" Id="R285ebc7dda044b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5aceb24c548c5" /><Relationship Type="http://schemas.openxmlformats.org/officeDocument/2006/relationships/image" Target="/ppt/media/image6.png" Id="Rc564f9757e5c4643" /><Relationship Type="http://schemas.openxmlformats.org/officeDocument/2006/relationships/notesSlide" Target="/ppt/notesSlides/notesSlide8.xml" Id="R3369f91be65341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181fe58c541ca" /><Relationship Type="http://schemas.openxmlformats.org/officeDocument/2006/relationships/image" Target="/ppt/media/image7.png" Id="R9fa7dccadd77443e" /><Relationship Type="http://schemas.openxmlformats.org/officeDocument/2006/relationships/notesSlide" Target="/ppt/notesSlides/notesSlide9.xml" Id="Rf68515d2af4e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07143e595498b" /><Relationship Type="http://schemas.openxmlformats.org/officeDocument/2006/relationships/notesSlide" Target="/ppt/notesSlides/notesSlide10.xml" Id="R5184af4a00764d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3e762ff1e4218" /><Relationship Type="http://schemas.openxmlformats.org/officeDocument/2006/relationships/image" Target="/ppt/media/image8.png" Id="R785ee560695e4d80" /><Relationship Type="http://schemas.openxmlformats.org/officeDocument/2006/relationships/notesSlide" Target="/ppt/notesSlides/notesSlide11.xml" Id="Refd4086489de45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dd96335bf4762" /><Relationship Type="http://schemas.openxmlformats.org/officeDocument/2006/relationships/image" Target="/ppt/media/image9.png" Id="Rbd52ba4e94f64724" /><Relationship Type="http://schemas.openxmlformats.org/officeDocument/2006/relationships/notesSlide" Target="/ppt/notesSlides/notesSlide12.xml" Id="R513554424d0d41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eacf98f274f74" /><Relationship Type="http://schemas.openxmlformats.org/officeDocument/2006/relationships/image" Target="/ppt/media/image10.png" Id="R9c145176f0924ea7" /><Relationship Type="http://schemas.openxmlformats.org/officeDocument/2006/relationships/notesSlide" Target="/ppt/notesSlides/notesSlide13.xml" Id="R44e6a7e52a664c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ab86097494768" /><Relationship Type="http://schemas.openxmlformats.org/officeDocument/2006/relationships/notesSlide" Target="/ppt/notesSlides/notesSlide14.xml" Id="R512f248ea4a14d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47100f84a4ba5" /><Relationship Type="http://schemas.openxmlformats.org/officeDocument/2006/relationships/image" Target="/ppt/media/image11.png" Id="Rd2b34c59a01e4e25" /><Relationship Type="http://schemas.openxmlformats.org/officeDocument/2006/relationships/notesSlide" Target="/ppt/notesSlides/notesSlide15.xml" Id="Rc3e6e8fb507c43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a13f2b7874981" /><Relationship Type="http://schemas.openxmlformats.org/officeDocument/2006/relationships/image" Target="/ppt/media/image12.png" Id="Rfee0d23d59e94e9a" /><Relationship Type="http://schemas.openxmlformats.org/officeDocument/2006/relationships/notesSlide" Target="/ppt/notesSlides/notesSlide16.xml" Id="Recfd359175b543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249fb31df4550" /><Relationship Type="http://schemas.openxmlformats.org/officeDocument/2006/relationships/notesSlide" Target="/ppt/notesSlides/notesSlide17.xml" Id="R3574e741c14942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030cd7259480a" /><Relationship Type="http://schemas.openxmlformats.org/officeDocument/2006/relationships/notesSlide" Target="/ppt/notesSlides/notesSlide18.xml" Id="Radd33f75c80342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CE46DBB4-6DE1-4E58-AB2C-72783214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7F16CA00-DCB0-41EB-A56A-0CD8926A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B9CBB8"/>
                </a:solidFill>
                <a:latin typeface="Noto Sans CJK KR"/>
                <a:ea typeface="Noto Sans CJK KR"/>
                <a:cs typeface="Noto Sans CJK KR"/>
              </a:rPr>
              <a:t>소재 연구 플랫폼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CA0B1BF3-BE14-466C-B392-64A5EFF8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143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사용자 매뉴얼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877A690F-32D5-4343-9704-6AB7215C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19650"/>
            <a:ext cx="1133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D8E5D1"/>
                </a:solidFill>
                <a:latin typeface="Noto Sans CJK KR"/>
                <a:ea typeface="Noto Sans CJK KR"/>
                <a:cs typeface="Noto Sans CJK KR"/>
              </a:rPr>
              <a:t>데이터셋 준비, 학습·예측, 문헌 확인과 시험 검토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07C6337D-284E-4EC0-AE75-203AE2C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3714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A90FFFD1-4032-4931-B807-C5B7B50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24700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A7C19E"/>
                </a:solidFill>
                <a:latin typeface="Noto Sans CJK KR"/>
                <a:ea typeface="Noto Sans CJK KR"/>
                <a:cs typeface="Noto Sans CJK KR"/>
              </a:rPr>
              <a:t>화면별 사용 순서와 결과 확인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96EF7DD4-3C2C-4BBB-B373-F7C22FAB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2730DAB9-026F-40E3-AF34-3F690F0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B6C6B5"/>
                </a:solidFill>
                <a:latin typeface="Noto Sans CJK KR"/>
                <a:ea typeface="Noto Sans CJK KR"/>
                <a:cs typeface="Noto Sans CJK KR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538609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py">
            <a:extLst xmlns:a="http://schemas.openxmlformats.org/drawingml/2006/main">
              <a:ext uri="{FF2B5EF4-FFF2-40B4-BE49-F238E27FC236}">
                <a16:creationId xmlns:a16="http://schemas.microsoft.com/office/drawing/2014/main" id="{CB640768-B158-415F-8FEE-2313F2D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사용 전 준비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83B628E-BF07-4D43-B7C3-A380650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사용자 권한과 데이터 범위를 먼저 확인합니다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638EA8F9-C317-43C8-BA9D-E4CB13A4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F1161A1C-E93C-439B-96A0-1B5B1FC6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02 / 18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B9407850-5548-43AA-BB5E-9537D929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98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7D851ADF-11FE-4CAA-9BE0-2C22C87C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접근 권한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248B4E1D-E2F1-443A-83F0-E89E575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955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분석예측·시험평가의 사용자 역할을 확인합니다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FA8A72E-6D9E-4492-93F7-408FC163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194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3B94B0F4-213B-4CB2-93BE-FF6401C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290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7DC7B3C1-B0F6-451D-BF48-47804EEB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데이터 준비</a:t>
            </a:r>
          </a:p>
        </p:txBody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C067C077-91D5-492E-AB35-869E49C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147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샘플 식별자, 원재료 투입량과 실측 물성을 준비합니다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1B99AD7-9C46-404D-836F-0DD3161C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386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98B5E55F-D06B-4DF2-A363-6E56E9CD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482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32264CF2-9382-41A5-8FCD-41BA153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모델과 AI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BF644C12-E657-4E80-820C-77CD269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339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수치 예측 모델과 대화용 AI 공급자를 구분합니다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D9DDB34-80F2-47B0-8C0A-5B1E0A8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293AF006-58BA-4F39-81FF-AA30D3F8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674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08272629-4295-4EE3-B48B-B0260F1F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150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고급 기능</a:t>
            </a:r>
          </a:p>
        </p:txBody>
      </p:sp>
      <p:sp>
        <p:nvSpPr>
          <p:cNvPr id="19" name="copy">
            <a:extLst xmlns:a="http://schemas.openxmlformats.org/drawingml/2006/main">
              <a:ext uri="{FF2B5EF4-FFF2-40B4-BE49-F238E27FC236}">
                <a16:creationId xmlns:a16="http://schemas.microsoft.com/office/drawing/2014/main" id="{5229F6E3-D498-4635-B5B7-B034268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1531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연구·승인 기능은 관리자 설정과 권한을 확인합니다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A51037D-D796-430A-8A9F-5C962E4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0770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52A2ED6F-F9C7-45CE-B3C8-F7E756F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9525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py">
            <a:extLst xmlns:a="http://schemas.openxmlformats.org/drawingml/2006/main">
              <a:ext uri="{FF2B5EF4-FFF2-40B4-BE49-F238E27FC236}">
                <a16:creationId xmlns:a16="http://schemas.microsoft.com/office/drawing/2014/main" id="{3E2FAF9B-DBD6-4B0D-A650-2BBA99DC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15250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자료 업로드만으로 대화용 LLM 자체를 재학습하지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24587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8B3F3278-33FF-4D43-A3C7-437C3611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화면과 현재 작업 확인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DC2492D-55C6-4A6B-A183-41630C09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기본 동선: 분석예측 / AI 도우미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AE8B6EF6-645D-4838-8721-26CD263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B44E197E-7F5E-4E04-AAE7-40324A37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03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042A69C4-CD39-4299-AC4E-EEC7CC75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3005D-64A7-43BE-AC65-BE551406B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65642172470d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AD5E921-302B-41EA-B5C0-C041D7A6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693674F8-5F97-4A1F-8540-82F07D8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184DAE56-CA5B-4511-B0F0-278CA986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새 작업 또는 최근 작업을 엽니다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11DD7B1-6068-482B-8E72-5544900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06929FCB-370F-4FED-A4DC-89C0510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44FA2B57-05B6-40D3-8772-89A70F70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현재 데이터셋과 버전, 학습 방식을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00A7AF2-15FC-42B5-A206-E2F9C37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FE7393E8-E027-43F8-BEFE-DD4E19A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6BF9DBAF-BAA0-4505-B63C-4C82FF1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질문을 입력하거나 파일을 첨부합니다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69FCF68-8BC9-4FE9-9DEC-BAD8D273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3C5C94D0-52EC-42A9-A11D-F3F3DC8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표시한 수치와 대화는 가상 예시입니다</a:t>
            </a:r>
          </a:p>
        </p:txBody>
      </p:sp>
    </p:spTree>
    <p:extLst>
      <p:ext uri="{BB962C8B-B14F-4D97-AF65-F5344CB8AC3E}">
        <p14:creationId xmlns:p14="http://schemas.microsoft.com/office/powerpoint/2010/main" val="1367703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563246ED-AC17-433B-93C5-D679AC96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파일로 데이터셋 만들기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F3789D8F-E103-4305-9E7E-105A6195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기본 동선: AI 도우미 / 데이터셋 선택 / 파일 업로드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CE86B62F-3C68-4DEC-A0CF-5FD9A4B3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4AC473FF-89F5-4984-876C-95863B19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04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3B4D2B5C-9BEA-474A-B539-4B2EF1D3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A5DF-AD34-4C88-85DC-3B77C119B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6c37be48f4305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E30B2A7-2662-4E20-B5D5-7732150D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A3004720-6325-41C3-B959-1F3AE293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DCC114C5-FF9F-43D5-98E2-6268B10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기존 업로드 형식에 맞는 파일을 선택합니다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1EAC723A-3F78-4381-B9FF-2C34BC1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5B291E44-B11D-424C-ACDF-11337D7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B1BA6243-F017-4868-9629-3DA94AB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샘플·원재료·물성 열과 단위를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7E9DB22-F04C-4F20-BB35-2009B662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28954ED4-B59D-4FB4-86FE-AB20FEA3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69944ADA-4A4F-453F-9392-9EABF36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미측정 값과 제외 사유를 확인한 뒤 확정합니다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F8F9F67-C15D-4C31-9AEB-0D1B941A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E9C8336E-83EB-4810-A9E8-1D0AA60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서로 다른 실측 샘플을 같은 샘플로 합치지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629320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C4E76785-BB99-4C15-A69B-EB90548D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실험 DB에서 자료 선택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8AE90B4C-C859-4791-87C3-F1F6267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기본 동선: AI 도우미 / 데이터셋 선택 / 실험 DB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D21041FA-AD4C-449B-9995-35CB9B41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F1C8EE24-EE02-4B15-B794-A9F5CBF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05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B57ADE50-A0BA-4671-BF36-0D1F9349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03F27-3BFF-4544-B675-29953BAFD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8c0defc1144a2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510DF95-7723-40A7-A833-E8426706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632658B0-1D65-4161-83DB-DBE3BA1E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F6280F16-8672-4A47-AD8C-25D5B39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원재료·물성 카테고리와 시험조건을 선택합니다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553950AF-3DD7-42EB-BF23-CC504C2B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4C237FB3-F7C5-4CDA-A501-359E07A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AA3D01A9-6073-4F1A-A315-97F20EE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조회 결과에서 사용할 자료를 선택합니다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49C00E1-F28B-4CAA-B23F-4F96CA39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003A5A19-D44E-4CF4-BFA1-7C1EF2A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DD4A0DE7-D4FB-4AB6-A8D6-C8FA484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제외 항목과 학습 가능 물성을 확인하고 확정합니다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39C852D-2D62-40BF-A8EB-CC736266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E731A66D-4C11-43D1-BEE1-7166C28D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원본 실험 DB는 조회 전용으로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425449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AEA76567-8AE3-4359-8CAC-955DD93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저장 데이터셋 재사용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4BB15F9F-913A-4768-B1DD-07E2032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저장된 자료의 이름·버전·출처를 확인합니다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B7191AFF-A70F-4D32-876B-EFD155C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D3507B3A-1041-4C84-AD97-C75CC5A2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06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D8D87876-B14F-4E81-A595-20FE0AE7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AD402-9198-4AD8-AE37-A0464601C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565ce20494713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5D16A19-96F9-40F4-AC8E-99881EF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262676C4-8CFD-450F-93C1-203BC869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C8C5B1A4-FEBB-429D-BFF8-0ED0D02B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저장 데이터셋 목록에서 자료를 선택합니다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DE0C8944-1728-4656-9C06-D9A7DA1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FA77C94A-1328-444C-A964-51003EA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3005035E-2F98-43F8-8814-80B59073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샘플 범위와 선택 물성을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51A74D2-F740-4DB5-8B58-EE82D9B1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A0FE18BD-5E14-486C-862C-99DCB41B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D8FB2F20-5079-4997-8696-0E42D75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현재 작업에 연결하고 학습 방식을 확정합니다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8720FF0-DB0D-495B-BB33-24A8C83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CE469E52-F1BE-4B20-AF02-4702BE9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최신 실험 자료를 쓰려면 다시 추출·저장한 데이터셋을 선택합니다</a:t>
            </a:r>
          </a:p>
        </p:txBody>
      </p:sp>
    </p:spTree>
    <p:extLst>
      <p:ext uri="{BB962C8B-B14F-4D97-AF65-F5344CB8AC3E}">
        <p14:creationId xmlns:p14="http://schemas.microsoft.com/office/powerpoint/2010/main" val="1406634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D16AEE6B-17B8-46AF-8578-5976C118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작업과 데이터셋 구분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6A17B65-0DE2-48FF-B378-4750F057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다른 자료는 새 작업에서 시작할 수 있습니다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A5143D1E-F538-4D3B-89A2-9798645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990F837B-9445-403F-BA93-751E7212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07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78599A3C-379C-4A6F-9277-63DBE50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5B58C-2841-4552-A050-F568EADBA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f443220f94c4c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C812333-D9FE-4655-8629-40A6634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32AB688C-CB43-4D76-8D77-DD85FF86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8FF3BBF4-A64F-4002-A022-60262792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다른 데이터셋 선택 시 새 작업 시작을 사용합니다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537DC72E-48AA-4DA0-BBDD-47789E0C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C73B5427-4DF9-4600-BA8E-69266ADD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C651AE51-5DF4-4E5D-BB3C-53EAC402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같은 대화에서 바꾸려면 현재 작업 교체를 선택합니다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94EA831-9D2D-475A-867B-377F88B9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788D4A00-E023-49BB-9A08-7D125C42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1A6A73DD-A229-4A42-B775-52DECD6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진행 중 분석은 완료하거나 취소한 뒤 교체합니다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750CBB3F-85C2-46FF-900B-3717CCE0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1B18790E-C0E8-42A9-86D0-9D1FCA67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동일 자료와 동일 설정의 재선택은 기존 연결을 유지합니다</a:t>
            </a:r>
          </a:p>
        </p:txBody>
      </p:sp>
    </p:spTree>
    <p:extLst>
      <p:ext uri="{BB962C8B-B14F-4D97-AF65-F5344CB8AC3E}">
        <p14:creationId xmlns:p14="http://schemas.microsoft.com/office/powerpoint/2010/main" val="1346926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73C318A1-EEE7-4031-903F-3FD596A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학습 방식 선택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3DF8C1BF-3D25-4AAF-8256-DEE9A44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물성별 독립 학습과 샘플 단위 비교를 선택합니다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91CF5708-2534-4F75-A651-F2D658E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AAE9F1F4-7C22-4B47-B5B4-AAF449B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08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76B16D51-82FE-4C4C-80A2-C126D5E7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860CA-4AF7-4FC9-9781-066D0AAD4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4f9757e5c4643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ED636C8-B96B-4F2F-AA49-2CFB25FB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67335FB1-C618-4B94-90AD-B2DF166A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4815F44A-42C0-43E1-BD36-DF255CC8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독립 학습은 물성별 모델을 학습합니다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8A05CE74-74A0-4F78-A586-387A85D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FD35E0C0-38A5-4CF0-8E09-04819826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1972B5A3-499D-499A-B1BE-856ACF99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샘플 단위 비교는 독립·공동 후보를 비교합니다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B088642-930E-4B16-B756-019E7F52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8961D2AA-D7D1-4D8D-8D90-1BB80958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B8299AC5-CA3A-4817-93D2-35C5257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선택을 확정하고 학습 진행 상태를 확인합니다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5F84B31B-215F-4F2E-AE68-986650CA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16DE3A9E-D822-4D3B-B969-0C58745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공유 DNN은 알고리즘 승인·활성화 후 선택할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1252725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962981BF-1B25-47E5-85B6-BC394A8B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학습 진행과 결과 확인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75A492FB-84A9-4EDB-8FB8-2E539958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현재 작업에 연결된 모델 실행을 확인합니다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6DBC4AA3-3BB8-4BF9-8778-41893B6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51507656-8B9E-41DF-AB27-A2D1F7EA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09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A1D386A9-72AC-48AF-BAE6-DEF22A1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5BCD1-2A05-4084-B04E-7E8B48EDD0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7dccadd77443e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EA6C58E-D457-4FC6-8CA3-445AEF4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6C2D4C35-BDE1-4A7A-BEEB-ECB5092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ACAE6B47-14EB-4FE7-9642-FEB372E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학습 대기·진행·실패·완료 상태를 확인합니다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53C073F9-28FC-48A2-9AFE-277F7F5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F0CDA16D-3707-437C-8BFE-EBC8289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9CE69CB1-9C23-45AA-9E4F-FF2D025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물성별 후보와 검증 결과를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F8FCD81-E13F-413A-9F23-0D4A446C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1001F019-EAA2-411D-804E-7C7D494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CD5B129A-65E1-40B0-8380-61191968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데이터셋 전체 이력과 현재 작업의 모델을 구분합니다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E92DEF0-789B-40DD-8B6E-3C2E9EDF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95B4A43E-6179-4CCA-B4F4-25DF9C6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모든 성능 수치는 화면 설명을 위한 가상 값입니다</a:t>
            </a:r>
          </a:p>
        </p:txBody>
      </p:sp>
    </p:spTree>
    <p:extLst>
      <p:ext uri="{BB962C8B-B14F-4D97-AF65-F5344CB8AC3E}">
        <p14:creationId xmlns:p14="http://schemas.microsoft.com/office/powerpoint/2010/main" val="120991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4732289B-B40D-4328-AF83-51930CCF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검증 지표 읽기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D593F1B4-A2C4-40B8-8100-146CD8E8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같은 물성·단위·평가자료 안에서 비교합니다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0A395855-AE31-45AE-B8B4-DA593DB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CF27B4B8-97A4-4517-AC31-74B7540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10 / 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73F49-A63F-48A0-B5E3-A7739117406A}"/>
              </a:ext>
            </a:extLst>
          </p:cNvPr>
          <p:cNvGraphicFramePr/>
          <p:nvPr/>
        </p:nvGraphicFramePr>
        <p:xfrm>
          <a:off xmlns:a="http://schemas.openxmlformats.org/drawingml/2006/main" x="742950" y="2495550"/>
          <a:ext xmlns:a="http://schemas.openxmlformats.org/drawingml/2006/main" cx="13754100" cy="4229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0300"/>
                <a:gridCol w="4495800"/>
                <a:gridCol w="6858000"/>
              </a:tblGrid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T w="9525">
                      <a:solidFill>
                        <a:srgbClr val="DCE4DB"/>
                      </a:solidFill>
                      <a:prstDash val="solid"/>
                    </a:lnT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165D4A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T w="9525">
                      <a:solidFill>
                        <a:srgbClr val="DCE4DB"/>
                      </a:solidFill>
                      <a:prstDash val="solid"/>
                    </a:lnT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165D4A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T w="9525">
                      <a:solidFill>
                        <a:srgbClr val="DCE4DB"/>
                      </a:solidFill>
                      <a:prstDash val="solid"/>
                    </a:lnT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165D4A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MAE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평균 절대 오차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낮을수록 평균 오차가 작음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RMSE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큰 오차에 더 민감한 지표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큰 예측 오차를 함께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평균 대비 설명 정도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 미만도 가능하며 단독 판단 지양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예측구간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새 관측의 가능한 값 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 조건·실제 포함률·범위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</a:tr>
            </a:tbl>
          </a:graphicData>
        </a:graphic>
      </p:graphicFrame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6E441E45-E51A-456F-B620-344A30D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10450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ED35EDEA-0DD1-4245-BD47-8583C9ED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496175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모델 선택과 최종 평가 자료를 구분하고 실제 시험으로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627100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5E3D47E4-5062-47BC-AF03-6923F400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물성 예측과 배합 추천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129C9DA2-2786-465A-A567-175205F3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기본 동선: 현재 데이터셋의 분석·예측·추천 실행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912F06FE-6D3E-446A-B04C-2D7ACDF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3FAFECB4-85CC-40BE-9D53-491F790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11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21B81856-425A-497A-AFA8-F8473F71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92C19-4B7B-436F-97BD-1EAFED0C6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ee560695e4d80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1475802-5BC4-42D1-B188-BD8C765F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7B5E0168-B656-4E3F-8F31-8B765B5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F284D8EE-BB71-4543-88B4-D9F2A58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원재료 투입량과 조건을 입력합니다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0D422159-2EE5-4527-BE44-6CD0F568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508E244C-1342-4D7F-BED2-DB4F923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662A91CA-0480-43DE-A44D-4098345F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물성 목표·허용 범위와 제약조건을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13CB8D4-4E43-44D0-8FE8-99DCDE8B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87613E4D-6413-4EC9-AC9C-CA8988C6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BED07496-957B-49E1-A88B-8B7C8CB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예측값과 적용 범위를 검토한 뒤 후보를 선택합니다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5A9E52E8-9955-470F-90D3-1C48562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8B514889-58B9-4107-A2A6-27B98DBF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예측 결과는 실측이나 실제 시험 합격을 뜻하지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262498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FDF5F804-F5A5-4886-A533-C547C9F6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미세증분과 대체 후보 검토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A9BBE249-3226-4B72-98C2-7588022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같은 모델로 입력 변화의 영향을 비교합니다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CBFBD08B-48DE-4304-BF8D-0C5D7E2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C4A28E08-BB54-4333-8324-D2CEEB56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12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6D2ECA12-AF52-48AA-9E1D-0B66D78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02721-1660-4C7A-B105-E44C28E7E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2ba4e94f64724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1473275-D096-46B4-BE25-C91AA866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E9177F59-B483-497C-8FC0-E9005C7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C37426CD-0BEF-4F01-8E15-EEACFC5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변경 원재료와 증분 범위를 지정합니다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7D7545D7-6EBB-4D26-AB27-7749DDE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D5B28CED-8527-4DBB-BAB0-7D62C44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32B6D379-0570-4A82-86BA-041AB45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고정 조건과 수량 기준을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1AC6DD8-682C-4A76-A54F-7F36930C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BFF96563-F8BB-4AD5-BA96-EB01882D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E532BE66-DE0C-48FA-ADDD-3043D8FD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치환 후보는 TDS·사용 근거를 검토하고 예측합니다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5763D52-9D21-4134-BFD6-9AF0BFC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315DC8D6-1229-4F8E-AAA7-0162E13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새 원료나 관측 범위 밖 입력은 추가 검토와 실험이 필요합니다</a:t>
            </a:r>
          </a:p>
        </p:txBody>
      </p:sp>
    </p:spTree>
    <p:extLst>
      <p:ext uri="{BB962C8B-B14F-4D97-AF65-F5344CB8AC3E}">
        <p14:creationId xmlns:p14="http://schemas.microsoft.com/office/powerpoint/2010/main" val="10263045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ACCF20C6-12F2-4990-B0C6-45E2740A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TDS와 문헌 근거 확인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818AA031-76BD-4CB4-A62E-965A0D85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기본 동선: 연구 지식베이스 / 논문·특허·내부 실험보고서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4A17CDDC-239B-4C46-95A7-6D327BD7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6FFCA69B-FC5A-4C5F-9F71-B80F127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13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6D43C810-A113-49F1-9680-E5CE1E35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9C79F-5083-45BE-9416-42DD2FE8C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45176f0924ea7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CB6D4B8-A4B4-4B5D-A263-343E2251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DF7F907E-C77F-4215-815A-7E0F0A6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239AB490-5780-44E8-963B-3E3DCC5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문서와 출처, 보존 상태를 확인합니다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92A9C074-C195-467A-9CC7-0C50BBA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DF9D9CAE-FAE3-4D35-B7FF-28DE967C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8DED6CBC-1B9B-44DA-BF97-9A03AC36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전체 원문 보기에서 추출 원문 또는 PDF를 엽니다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CDAD11E-617C-4E27-8904-8B7F222F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9753E97D-FA5C-48CC-A034-157DA4BD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3554B3DB-7B24-4AA0-B177-5BBD058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원본 다운로드로 보존 파일을 확인합니다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3640FC2-DB67-444A-A8C5-E78B0F0F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50E0C7F3-1C17-42EF-980D-7C45AD79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확보한 본문과 초록만 있는 자료를 구분합니다</a:t>
            </a:r>
          </a:p>
        </p:txBody>
      </p:sp>
    </p:spTree>
    <p:extLst>
      <p:ext uri="{BB962C8B-B14F-4D97-AF65-F5344CB8AC3E}">
        <p14:creationId xmlns:p14="http://schemas.microsoft.com/office/powerpoint/2010/main" val="1584099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C367F458-AD78-42A7-8EAC-32A49327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문서 보존 상태 구분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53E8366D-680B-4273-9CD6-05AB4A8E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원문 조회 화면의 상태를 확인합니다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747BDA21-D48C-4503-836B-3095E4C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C249DE3E-10C5-4B22-9E20-B017F86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14 / 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BA606-7DB7-448A-AD3D-677B8B6C7402}"/>
              </a:ext>
            </a:extLst>
          </p:cNvPr>
          <p:cNvGraphicFramePr/>
          <p:nvPr/>
        </p:nvGraphicFramePr>
        <p:xfrm>
          <a:off xmlns:a="http://schemas.openxmlformats.org/drawingml/2006/main" x="742950" y="2495550"/>
          <a:ext xmlns:a="http://schemas.openxmlformats.org/drawingml/2006/main" cx="13754100" cy="4229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9372600"/>
              </a:tblGrid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보존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T w="9525">
                      <a:solidFill>
                        <a:srgbClr val="DCE4DB"/>
                      </a:solidFill>
                      <a:prstDash val="solid"/>
                    </a:lnT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165D4A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화면에서 확인할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T w="9525">
                      <a:solidFill>
                        <a:srgbClr val="DCE4DB"/>
                      </a:solidFill>
                      <a:prstDash val="solid"/>
                    </a:lnT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165D4A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EXTRACTED_FILE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파일에서 추출해 별도로 보존한 본문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TDS_RAW_TEXT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상태 등 조회 조건을 통과한 TDS 원문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METADATA_ONLY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제목·초록 등 메타데이터만 확보한 자료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1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LEGACY_CHUNKS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DB"/>
                      </a:solidFill>
                      <a:prstDash val="solid"/>
                    </a:lnL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  <a:tc>
                  <a:txBody>
                    <a:bodyPr wrap="square" lIns="161925" tIns="161925" rIns="161925" bIns="161925"/>
                    <a:lstStyle/>
                    <a:p>
                      <a:r>
                        <a:rPr sz="1875" b="0">
                          <a:solidFill>
                            <a:srgbClr val="17282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별도 원문 보존 이전의 검색 청크 기반 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DB"/>
                      </a:solidFill>
                      <a:prstDash val="solid"/>
                    </a:lnR>
                    <a:lnB w="9525">
                      <a:solidFill>
                        <a:srgbClr val="DCE4DB"/>
                      </a:solidFill>
                      <a:prstDash val="solid"/>
                    </a:lnB>
                    <a:solidFill>
                      <a:srgbClr val="F2F5EF"/>
                    </a:solidFill>
                  </a:tcPr>
                </a:tc>
              </a:tr>
            </a:tbl>
          </a:graphicData>
        </a:graphic>
      </p:graphicFrame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013C2B1B-5123-4346-8221-C18450B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10450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63887BC6-2C61-4346-A873-4AA0BC52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496175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추출 텍스트에서 파일의 서식·이미지 전체를 재현하지는 않습니다</a:t>
            </a:r>
          </a:p>
        </p:txBody>
      </p:sp>
    </p:spTree>
    <p:extLst>
      <p:ext uri="{BB962C8B-B14F-4D97-AF65-F5344CB8AC3E}">
        <p14:creationId xmlns:p14="http://schemas.microsoft.com/office/powerpoint/2010/main" val="4310236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6B72A18E-478C-4A40-ADAB-6FE4B08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조성 변경과 독립 검토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062EFE15-5E2F-4091-8646-4D55CF1D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원본과 변경 이유를 Revision별로 보존합니다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7E3CC54D-A14B-409E-B50F-BF1CF17B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C8EB052A-9C0B-4FEE-BD63-0F646D1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15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415411F0-5F58-4ECF-AF6F-D0CB8A0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6E54A-CCDC-4D30-9F67-336CA39C4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34c59a01e4e25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9849009-11E3-44FD-BAB8-4C42729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E71A1D01-5AD4-4787-A0C0-FCE9BCF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E0202FC2-C470-4A7F-A057-E7FC172E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기준 결과를 가져와 원본 Revision을 보존합니다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46CC9FC1-165A-45FA-BF88-4D28930C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7B172437-E8B2-4742-9228-3DE673C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004A4FFA-0A13-41BE-94C0-A1FF5C5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변경 조성과 이유를 기록하고 다시 예측합니다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74BB65B-1133-4724-96E6-1626F7C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5AD599E1-A0F5-41A4-A8C0-C056B47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674C57CC-90FC-49A8-A8F5-B57FFCD1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독립 검토자가 현재 Revision을 확인합니다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8BE105D6-AB7F-4B7E-8130-17533AE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C41E72B6-2458-4C8D-BD0B-FE77F17D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입력이 바뀌면 과거 검토 완료 상태를 그대로 승계하지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5396069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F9916D60-0B63-489B-9823-E1D71CB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시험평가 초안 연결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443D8833-6FD9-4545-80A0-D4C8E8F7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선정 Revision의 시험 계획에서 진행합니다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635C68F3-65DD-4DC0-AC91-0ABEE7DC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78B709F5-9FD7-432F-A403-BEB31139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16 / 18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AF375F68-D723-4FE9-A24F-E18C897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38212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0DF6A-DE5F-4280-BC47-683DF9C6D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0d23d59e94e9a"/>
          <a:stretch xmlns:a="http://schemas.openxmlformats.org/drawingml/2006/main"/>
        </p:blipFill>
        <p:spPr>
          <a:xfrm xmlns:a="http://schemas.openxmlformats.org/drawingml/2006/main">
            <a:off x="704850" y="2211586"/>
            <a:ext cx="9382125" cy="5863828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FBC6EF0-E934-4411-A18C-654E2E6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A82D30DE-E37B-4940-B249-C5D7DB9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EC5F0326-F36A-409D-9E6E-C03B5C9C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자재와 시험항목을 실제 활성 마스터에 연결합니다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8D0B6D08-4410-4086-AAEA-7817E32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A5D4883C-2A08-4041-80F6-49E8AEE3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54C9CE8B-F557-43A7-BBFB-5308A0D9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814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수량·단위·조건과 초안 미리보기를 확인합니다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7B1ED3E-3E3C-444F-9D73-901B2D33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05450"/>
            <a:ext cx="43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9F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4683F851-BA93-43C2-9C16-46E01BD0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562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836D208F-7F0B-4BC8-B212-5AA6F19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864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사용자 확인 후 초안을 생성하고 기존 절차로 의뢰합니다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A52F33C-FCBA-479D-9DB3-E0DF8EC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7232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9752BD36-7D23-41CC-B318-DA0567C5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81875"/>
            <a:ext cx="3952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초안 생성과 정식 시험 의뢰·승인을 구분합니다</a:t>
            </a:r>
          </a:p>
        </p:txBody>
      </p:sp>
    </p:spTree>
    <p:extLst>
      <p:ext uri="{BB962C8B-B14F-4D97-AF65-F5344CB8AC3E}">
        <p14:creationId xmlns:p14="http://schemas.microsoft.com/office/powerpoint/2010/main" val="8327273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py">
            <a:extLst xmlns:a="http://schemas.openxmlformats.org/drawingml/2006/main">
              <a:ext uri="{FF2B5EF4-FFF2-40B4-BE49-F238E27FC236}">
                <a16:creationId xmlns:a16="http://schemas.microsoft.com/office/drawing/2014/main" id="{F3047259-DDCD-4638-B897-962E7FA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결과 보존과 내보내기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72A16B00-59EA-4335-9C9A-242BE0E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데이터와 모델 실행의 연결을 유지합니다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136A7924-8F4D-43DD-B48E-45277766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5F043C3A-008F-4A7F-8AA8-F0E555D7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17 / 18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FB2FD609-E0DD-4685-8306-7B5768EA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98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063C4A8E-47A3-4AA5-A953-254951B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데이터셋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B75125A7-C79E-4DE0-91F8-E6B7D39F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955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입력 스냅숏과 자료 버전을 보존합니다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60A7EDE-BC39-48F5-889C-D5BEB775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194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9C664919-B905-42AE-BA24-493BB84B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290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8720CE47-402C-4BB0-A92D-6FB11C6D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모델 실행</a:t>
            </a:r>
          </a:p>
        </p:txBody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AF8B5354-2CAF-4D8C-A7E4-56F08192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147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사용한 학습 방식과 결과·검증 보고서를 확인합니다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EADA004-CE8C-4D64-9FD0-A45E9F3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386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8DFE3034-5753-4344-A5E3-A2E5CF4B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482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B088FC0B-BD24-4275-9554-C0C66CF4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다운로드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29B71336-440D-4E0A-8525-D68DDE2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339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기존 결과·데이터셋 Excel 내보내기를 사용합니다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35B2081-9C12-4DBB-B9E1-E04053D2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148385E4-BB8A-4C98-BF39-E360AFC7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674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B4EA17AE-8646-483F-948E-A6D603BC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150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검토 이력</a:t>
            </a:r>
          </a:p>
        </p:txBody>
      </p:sp>
      <p:sp>
        <p:nvSpPr>
          <p:cNvPr id="19" name="copy">
            <a:extLst xmlns:a="http://schemas.openxmlformats.org/drawingml/2006/main">
              <a:ext uri="{FF2B5EF4-FFF2-40B4-BE49-F238E27FC236}">
                <a16:creationId xmlns:a16="http://schemas.microsoft.com/office/drawing/2014/main" id="{D60D39D8-D96B-4007-AE14-6DF69DA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1531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변경 사유와 검토·시험 연결 기록을 함께 확인합니다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0577731-7E04-4EC3-8DC1-B0A8972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0770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9CE296C9-BC17-400D-AD8D-2664983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9525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py">
            <a:extLst xmlns:a="http://schemas.openxmlformats.org/drawingml/2006/main">
              <a:ext uri="{FF2B5EF4-FFF2-40B4-BE49-F238E27FC236}">
                <a16:creationId xmlns:a16="http://schemas.microsoft.com/office/drawing/2014/main" id="{3A27506B-FFFE-413F-BE03-E27473D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15250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이력 화면의 데이터셋 전체 결과와 현재 작업 결과를 구분합니다</a:t>
            </a:r>
          </a:p>
        </p:txBody>
      </p:sp>
    </p:spTree>
    <p:extLst>
      <p:ext uri="{BB962C8B-B14F-4D97-AF65-F5344CB8AC3E}">
        <p14:creationId xmlns:p14="http://schemas.microsoft.com/office/powerpoint/2010/main" val="9801524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py">
            <a:extLst xmlns:a="http://schemas.openxmlformats.org/drawingml/2006/main">
              <a:ext uri="{FF2B5EF4-FFF2-40B4-BE49-F238E27FC236}">
                <a16:creationId xmlns:a16="http://schemas.microsoft.com/office/drawing/2014/main" id="{C5E45DC5-D716-4422-B947-9D352947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2925"/>
            <a:ext cx="1381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사용 중 확인할 사항</a:t>
            </a:r>
          </a:p>
        </p:txBody>
      </p:sp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0A00F35F-43F6-44BF-BA31-DE42F3FA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자료·모델·작업의 연결을 먼저 확인합니다</a:t>
            </a:r>
          </a:p>
        </p:txBody>
      </p:sp>
      <p:sp>
        <p:nvSpPr>
          <p:cNvPr id="3" name="copy">
            <a:extLst xmlns:a="http://schemas.openxmlformats.org/drawingml/2006/main">
              <a:ext uri="{FF2B5EF4-FFF2-40B4-BE49-F238E27FC236}">
                <a16:creationId xmlns:a16="http://schemas.microsoft.com/office/drawing/2014/main" id="{60BBD255-BA15-4E8D-B7B9-98F6ADF5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67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R&amp;D Studio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8A124DD5-1ED9-4A74-ADE7-B818BB56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2677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E7D75"/>
                </a:solidFill>
                <a:latin typeface="Noto Sans CJK KR"/>
                <a:ea typeface="Noto Sans CJK KR"/>
                <a:cs typeface="Noto Sans CJK KR"/>
              </a:rPr>
              <a:t>18 / 18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37A9357A-5C12-4CA5-961D-B53E506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98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6C4D9A62-7C75-4546-924A-5112C884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학습 결과가 없을 때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FE394C63-F6BC-4DF0-85E9-4F38B3B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955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선택 물성의 숫자 자료와 제외 사유를 확인합니다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23534C7-76B1-4F04-90C9-D017C957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194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BBC10464-4FA8-44AD-B259-29E6E10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290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7354FA00-2040-46B0-A7AF-67A9C49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새 실험 자료를 쓸 때</a:t>
            </a:r>
          </a:p>
        </p:txBody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52C5921F-549D-4DD0-83CC-0FD548F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147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새 데이터셋으로 저장하고 선택·학습합니다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B35BAE1-B50A-40DF-8EF4-9995D71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386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22E10F7A-FA28-4B6B-B1C9-92646B30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482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4" name="copy">
            <a:extLst xmlns:a="http://schemas.openxmlformats.org/drawingml/2006/main">
              <a:ext uri="{FF2B5EF4-FFF2-40B4-BE49-F238E27FC236}">
                <a16:creationId xmlns:a16="http://schemas.microsoft.com/office/drawing/2014/main" id="{6F33EF09-2866-4F13-9BD0-B34D0910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다른 자료가 보일 때</a:t>
            </a:r>
          </a:p>
        </p:txBody>
      </p:sp>
      <p:sp>
        <p:nvSpPr>
          <p:cNvPr id="15" name="copy">
            <a:extLst xmlns:a="http://schemas.openxmlformats.org/drawingml/2006/main">
              <a:ext uri="{FF2B5EF4-FFF2-40B4-BE49-F238E27FC236}">
                <a16:creationId xmlns:a16="http://schemas.microsoft.com/office/drawing/2014/main" id="{BEE3B927-22ED-458B-873A-C6EBF77E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339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현재 작업과 데이터셋 버전·모델 실행을 확인합니다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E523D71-E14B-49DC-933E-68A3EE6B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py">
            <a:extLst xmlns:a="http://schemas.openxmlformats.org/drawingml/2006/main">
              <a:ext uri="{FF2B5EF4-FFF2-40B4-BE49-F238E27FC236}">
                <a16:creationId xmlns:a16="http://schemas.microsoft.com/office/drawing/2014/main" id="{4E21282C-0208-4238-8D00-450452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6742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0">
                <a:solidFill>
                  <a:srgbClr val="9CB28C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8" name="copy">
            <a:extLst xmlns:a="http://schemas.openxmlformats.org/drawingml/2006/main">
              <a:ext uri="{FF2B5EF4-FFF2-40B4-BE49-F238E27FC236}">
                <a16:creationId xmlns:a16="http://schemas.microsoft.com/office/drawing/2014/main" id="{CEF5B395-ABD8-49AA-B9BD-643837E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150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연구 기능이 안 보일 때</a:t>
            </a:r>
          </a:p>
        </p:txBody>
      </p:sp>
      <p:sp>
        <p:nvSpPr>
          <p:cNvPr id="19" name="copy">
            <a:extLst xmlns:a="http://schemas.openxmlformats.org/drawingml/2006/main">
              <a:ext uri="{FF2B5EF4-FFF2-40B4-BE49-F238E27FC236}">
                <a16:creationId xmlns:a16="http://schemas.microsoft.com/office/drawing/2014/main" id="{22FBD079-FDBC-4816-BBE9-1DB54ED5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153150"/>
            <a:ext cx="890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72825"/>
                </a:solidFill>
                <a:latin typeface="Noto Sans CJK KR"/>
                <a:ea typeface="Noto Sans CJK KR"/>
                <a:cs typeface="Noto Sans CJK KR"/>
              </a:rPr>
              <a:t>관리자 설정과 사용자 권한을 확인합니다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D8440ED7-0368-4186-9971-98EB2FB5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0770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3F157E3D-B506-4EDC-84A3-C0C817AF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9525"/>
            <a:ext cx="137922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py">
            <a:extLst xmlns:a="http://schemas.openxmlformats.org/drawingml/2006/main">
              <a:ext uri="{FF2B5EF4-FFF2-40B4-BE49-F238E27FC236}">
                <a16:creationId xmlns:a16="http://schemas.microsoft.com/office/drawing/2014/main" id="{7680C777-B0E0-4C51-A92E-9627BB24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15250"/>
            <a:ext cx="1343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65D4A"/>
                </a:solidFill>
                <a:latin typeface="Noto Sans CJK KR"/>
                <a:ea typeface="Noto Sans CJK KR"/>
                <a:cs typeface="Noto Sans CJK KR"/>
              </a:rPr>
              <a:t>이 문서는 기능 설명용 재구성 화면을 사용한 사용자 가이드입니다</a:t>
            </a:r>
          </a:p>
        </p:txBody>
      </p:sp>
    </p:spTree>
    <p:extLst>
      <p:ext uri="{BB962C8B-B14F-4D97-AF65-F5344CB8AC3E}">
        <p14:creationId xmlns:p14="http://schemas.microsoft.com/office/powerpoint/2010/main" val="865142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2026-10-18T06:33:43.2950000Z</dcterms:created>
  <dcterms:modified xsi:type="dcterms:W3CDTF">2026-10-18T06:33:43.2950000Z</dcterms:modified>
</coreProperties>
</file>