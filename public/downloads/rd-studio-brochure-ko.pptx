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e2e45aec5a452d" /><Relationship Type="http://schemas.openxmlformats.org/officeDocument/2006/relationships/extended-properties" Target="/docProps/app.xml" Id="Rd015d452bd88430d" /><Relationship Type="http://schemas.openxmlformats.org/officeDocument/2006/relationships/officeDocument" Target="/ppt/presentation.xml" Id="R60efb4c07581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a7d6b80b7544b2"/>
  </p:sldMasterIdLst>
  <p:notesMasterIdLst>
    <p:notesMasterId xmlns:r="http://schemas.openxmlformats.org/officeDocument/2006/relationships" r:id="R60470c82b6ef49e6"/>
  </p:notesMasterIdLst>
  <p:sldIdLst>
    <p:sldId xmlns:r="http://schemas.openxmlformats.org/officeDocument/2006/relationships" id="256" r:id="Re48b1114de884408"/>
    <p:sldId xmlns:r="http://schemas.openxmlformats.org/officeDocument/2006/relationships" id="257" r:id="Refd06ac350114be2"/>
    <p:sldId xmlns:r="http://schemas.openxmlformats.org/officeDocument/2006/relationships" id="258" r:id="R1751a77721bd4983"/>
    <p:sldId xmlns:r="http://schemas.openxmlformats.org/officeDocument/2006/relationships" id="259" r:id="Rd57799ad936b4e0f"/>
    <p:sldId xmlns:r="http://schemas.openxmlformats.org/officeDocument/2006/relationships" id="260" r:id="Rdadedc400d7d47e2"/>
    <p:sldId xmlns:r="http://schemas.openxmlformats.org/officeDocument/2006/relationships" id="261" r:id="Rbcc8ef3263e64bba"/>
    <p:sldId xmlns:r="http://schemas.openxmlformats.org/officeDocument/2006/relationships" id="262" r:id="Rb24bc6e742f64003"/>
    <p:sldId xmlns:r="http://schemas.openxmlformats.org/officeDocument/2006/relationships" id="263" r:id="R3714977032954e32"/>
    <p:sldId xmlns:r="http://schemas.openxmlformats.org/officeDocument/2006/relationships" id="264" r:id="Reccc7b401c144aa0"/>
    <p:sldId xmlns:r="http://schemas.openxmlformats.org/officeDocument/2006/relationships" id="265" r:id="R9ebec9b852064c2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e69bae50d41cb" /><Relationship Type="http://schemas.openxmlformats.org/officeDocument/2006/relationships/slideMaster" Target="/ppt/slideMasters/slideMaster1.xml" Id="R3da7d6b80b7544b2" /><Relationship Type="http://schemas.openxmlformats.org/officeDocument/2006/relationships/notesMaster" Target="/ppt/notesMasters/notesMaster1.xml" Id="R60470c82b6ef49e6" /><Relationship Type="http://schemas.openxmlformats.org/officeDocument/2006/relationships/presProps" Target="/ppt/presProps.xml" Id="R14d1f53518154c2a" /><Relationship Type="http://schemas.openxmlformats.org/officeDocument/2006/relationships/tableStyles" Target="/ppt/tableStyles.xml" Id="Rf55fcf82ca804d28" /><Relationship Type="http://schemas.openxmlformats.org/officeDocument/2006/relationships/slide" Target="/ppt/slides/slide1.xml" Id="Re48b1114de884408" /><Relationship Type="http://schemas.openxmlformats.org/officeDocument/2006/relationships/slide" Target="/ppt/slides/slide2.xml" Id="Refd06ac350114be2" /><Relationship Type="http://schemas.openxmlformats.org/officeDocument/2006/relationships/slide" Target="/ppt/slides/slide3.xml" Id="R1751a77721bd4983" /><Relationship Type="http://schemas.openxmlformats.org/officeDocument/2006/relationships/slide" Target="/ppt/slides/slide4.xml" Id="Rd57799ad936b4e0f" /><Relationship Type="http://schemas.openxmlformats.org/officeDocument/2006/relationships/slide" Target="/ppt/slides/slide5.xml" Id="Rdadedc400d7d47e2" /><Relationship Type="http://schemas.openxmlformats.org/officeDocument/2006/relationships/slide" Target="/ppt/slides/slide6.xml" Id="Rbcc8ef3263e64bba" /><Relationship Type="http://schemas.openxmlformats.org/officeDocument/2006/relationships/slide" Target="/ppt/slides/slide7.xml" Id="Rb24bc6e742f64003" /><Relationship Type="http://schemas.openxmlformats.org/officeDocument/2006/relationships/slide" Target="/ppt/slides/slide8.xml" Id="R3714977032954e32" /><Relationship Type="http://schemas.openxmlformats.org/officeDocument/2006/relationships/slide" Target="/ppt/slides/slide9.xml" Id="Reccc7b401c144aa0" /><Relationship Type="http://schemas.openxmlformats.org/officeDocument/2006/relationships/slide" Target="/ppt/slides/slide10.xml" Id="R9ebec9b85206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5fd93c7c244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70088c4e44506" /><Relationship Type="http://schemas.openxmlformats.org/officeDocument/2006/relationships/notesMaster" Target="/ppt/notesMasters/notesMaster1.xml" Id="Re9ccf6d9dc60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b4ef4b14542ac" /><Relationship Type="http://schemas.openxmlformats.org/officeDocument/2006/relationships/notesMaster" Target="/ppt/notesMasters/notesMaster1.xml" Id="Raf71ef584b01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c2093edbf541f6" /><Relationship Type="http://schemas.openxmlformats.org/officeDocument/2006/relationships/notesMaster" Target="/ppt/notesMasters/notesMaster1.xml" Id="R30297cc864984a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f28b0bde943f4" /><Relationship Type="http://schemas.openxmlformats.org/officeDocument/2006/relationships/notesMaster" Target="/ppt/notesMasters/notesMaster1.xml" Id="R26ef1eee3ec4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6aa1e5d3f4408c" /><Relationship Type="http://schemas.openxmlformats.org/officeDocument/2006/relationships/notesMaster" Target="/ppt/notesMasters/notesMaster1.xml" Id="R25251e7ed17448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959f52af194144" /><Relationship Type="http://schemas.openxmlformats.org/officeDocument/2006/relationships/notesMaster" Target="/ppt/notesMasters/notesMaster1.xml" Id="R4f55b9875fb541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c9cf02dce4b4d" /><Relationship Type="http://schemas.openxmlformats.org/officeDocument/2006/relationships/notesMaster" Target="/ppt/notesMasters/notesMaster1.xml" Id="R9ab2d5636f6743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b84a3e02494d88" /><Relationship Type="http://schemas.openxmlformats.org/officeDocument/2006/relationships/notesMaster" Target="/ppt/notesMasters/notesMaster1.xml" Id="Re1a2d58dc0c042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3bc4560a974b4d" /><Relationship Type="http://schemas.openxmlformats.org/officeDocument/2006/relationships/notesMaster" Target="/ppt/notesMasters/notesMaster1.xml" Id="R5b81f27627f04b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c6d019d3c84ad3" /><Relationship Type="http://schemas.openxmlformats.org/officeDocument/2006/relationships/notesMaster" Target="/ppt/notesMasters/notesMaster1.xml" Id="R84c966b1a92842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콘셉트 소개. 성능·매출·비용 절감 수치를 주장하지 않습니다. 소재 이미지는 AI 생성 콘셉트 아트입니다.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docs/30_features_KO.md, docs/43_sample_training_KO.md, docs/45_dataset_work_isolation_KO.md. 정식 시험 의뢰 자동 전송을 주장하지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ai_workspace/dataset_views.py, 데이터셋 선택 UI. 화면과 모든 수치는 기능 설명용으로 재구성했습니다.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docs/43_sample_training_KO.md, material_ml/session_automl/sample_training.py. 공동 모델의 정확도 우위를 보장하지 않습니다. 표시 지표는 가상 값입니다.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frontend-nextjs/components/ai-session-analysis-screen.tsx, 예측·추천·증분 실행 경로. 예측은 실측이나 시험 합격을 뜻하지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docs/42_original_text_KO.md. 문서명과 본문은 가상 자료이며 외부 논문 본문을 복제하지 않았습니다. 실제 확보·승인한 자료 범위에서 조회합니다.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조성 Revision·검토 서비스, docs/30_features_KO.md. 정식 의뢰와 승인은 기존 시험평가 절차로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근거: ai_workspace/workflow_scope.py, docs/45_dataset_work_isolation_KO.md. 실제 작업 처리 성능과 사용자 편의성의 향상을 측정했다는 의미는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기능 개요입니다. 인증·보안 인증서나 규정 준수를 보증하지 않습니다. 내부 공급자와 외부 공급자의 실제 사용 가능 여부는 해당 조직의 설정을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고객사, 연락처, 가격, 성능 수치와 비교 순위를 임의로 만들지 않았습니다. 제공 화면은 기능 설명용 재구성입니다.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7593317114e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ce470cf234c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9d8a6f10b42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5734b80ae47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86019c7ef49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532dfafa9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0A8450-7FF0-40DB-829A-1080EF383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EA09E0-191D-4164-8D09-C658D7AF88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1D57F7-CFA2-41CD-8A00-37F7ECEBC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6B97D8-7B68-48B6-9AEC-8806A6802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3BFF17-3BD8-4107-BD7A-192CC326E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B25ADF-17A0-499A-85D1-61E93320B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0F8113-78F0-4C11-83BA-512F06432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38DFF6-CB0B-425E-8732-CB818EFB16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CDBB70-328C-4530-80AE-97D7A0651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F2DF12-8B0B-4C1A-9313-E46FE877B4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9491b58daf45b1" /><Relationship Type="http://schemas.openxmlformats.org/officeDocument/2006/relationships/slideLayout" Target="/ppt/slideLayouts/slideLayout1.xml" Id="Rdbfbe7e58032496f" /><Relationship Type="http://schemas.openxmlformats.org/officeDocument/2006/relationships/slideLayout" Target="/ppt/slideLayouts/slideLayout2.xml" Id="Rb85f17faded44bb2" /><Relationship Type="http://schemas.openxmlformats.org/officeDocument/2006/relationships/slideLayout" Target="/ppt/slideLayouts/slideLayout3.xml" Id="R8bc3c69e407644d9" /><Relationship Type="http://schemas.openxmlformats.org/officeDocument/2006/relationships/slideLayout" Target="/ppt/slideLayouts/slideLayout4.xml" Id="R6edc9d367c834eb9" /><Relationship Type="http://schemas.openxmlformats.org/officeDocument/2006/relationships/slideLayout" Target="/ppt/slideLayouts/slideLayout5.xml" Id="Rea9ddf1a581b4997" /><Relationship Type="http://schemas.openxmlformats.org/officeDocument/2006/relationships/slideLayout" Target="/ppt/slideLayouts/slideLayout6.xml" Id="R7f4aeac4bf6944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fbe7e58032496f"/>
    <p:sldLayoutId xmlns:r="http://schemas.openxmlformats.org/officeDocument/2006/relationships" id="2147483650" r:id="Rb85f17faded44bb2"/>
    <p:sldLayoutId xmlns:r="http://schemas.openxmlformats.org/officeDocument/2006/relationships" id="2147483651" r:id="R8bc3c69e407644d9"/>
    <p:sldLayoutId xmlns:r="http://schemas.openxmlformats.org/officeDocument/2006/relationships" id="2147483652" r:id="R6edc9d367c834eb9"/>
    <p:sldLayoutId xmlns:r="http://schemas.openxmlformats.org/officeDocument/2006/relationships" id="2147483653" r:id="Rea9ddf1a581b4997"/>
    <p:sldLayoutId xmlns:r="http://schemas.openxmlformats.org/officeDocument/2006/relationships" id="2147483654" r:id="R7f4aeac4bf6944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694a7762c430e" /><Relationship Type="http://schemas.openxmlformats.org/officeDocument/2006/relationships/image" Target="/ppt/media/image.png" Id="R8701b06345884bad" /><Relationship Type="http://schemas.openxmlformats.org/officeDocument/2006/relationships/notesSlide" Target="/ppt/notesSlides/notesSlide1.xml" Id="R8ea013a2253341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22928582e418a" /><Relationship Type="http://schemas.openxmlformats.org/officeDocument/2006/relationships/notesSlide" Target="/ppt/notesSlides/notesSlide2.xml" Id="R709f80a79a68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77f01fdb34f8a" /><Relationship Type="http://schemas.openxmlformats.org/officeDocument/2006/relationships/image" Target="/ppt/media/image2.png" Id="Rc85f1a6ad0234f55" /><Relationship Type="http://schemas.openxmlformats.org/officeDocument/2006/relationships/notesSlide" Target="/ppt/notesSlides/notesSlide3.xml" Id="R0189acfa566d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5eb42d61e45ff" /><Relationship Type="http://schemas.openxmlformats.org/officeDocument/2006/relationships/image" Target="/ppt/media/image3.png" Id="R6ef52f92b4a34708" /><Relationship Type="http://schemas.openxmlformats.org/officeDocument/2006/relationships/notesSlide" Target="/ppt/notesSlides/notesSlide4.xml" Id="R76823ae5368f49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11fbd9680455b" /><Relationship Type="http://schemas.openxmlformats.org/officeDocument/2006/relationships/image" Target="/ppt/media/image4.png" Id="R4630f918d0ab4149" /><Relationship Type="http://schemas.openxmlformats.org/officeDocument/2006/relationships/notesSlide" Target="/ppt/notesSlides/notesSlide5.xml" Id="Re36b81177c40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2c5a6ad2b4997" /><Relationship Type="http://schemas.openxmlformats.org/officeDocument/2006/relationships/image" Target="/ppt/media/image5.png" Id="R387f0b5090c14026" /><Relationship Type="http://schemas.openxmlformats.org/officeDocument/2006/relationships/notesSlide" Target="/ppt/notesSlides/notesSlide6.xml" Id="R58c8a68a5af847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6ed4eaacb4991" /><Relationship Type="http://schemas.openxmlformats.org/officeDocument/2006/relationships/image" Target="/ppt/media/image6.png" Id="R4174ba3a44a34ad2" /><Relationship Type="http://schemas.openxmlformats.org/officeDocument/2006/relationships/notesSlide" Target="/ppt/notesSlides/notesSlide7.xml" Id="R62d99de0ffbe45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72a843f8e4420" /><Relationship Type="http://schemas.openxmlformats.org/officeDocument/2006/relationships/image" Target="/ppt/media/image7.png" Id="Rddd0a87d72b64dda" /><Relationship Type="http://schemas.openxmlformats.org/officeDocument/2006/relationships/notesSlide" Target="/ppt/notesSlides/notesSlide8.xml" Id="R0bd3127ee66e44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8c50efb5346a8" /><Relationship Type="http://schemas.openxmlformats.org/officeDocument/2006/relationships/notesSlide" Target="/ppt/notesSlides/notesSlide9.xml" Id="Rbb5ea6c3a08f47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d1286e57d4e45" /><Relationship Type="http://schemas.openxmlformats.org/officeDocument/2006/relationships/notesSlide" Target="/ppt/notesSlides/notesSlide10.xml" Id="R40fac56beb6241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E88D8-8F54-4AA1-9AA9-5882A76083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1b06345884b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8D76F588-AAA1-4E4B-9773-3C106EB3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62824FF6-E106-487A-B354-7AC9003D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219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rPr>
              <a:t>소재 연구 플랫폼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9C25E981-04BE-409B-B27F-22A5C638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8763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실험 데이터를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다음 배합의 근거로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D6D726F9-5B16-4472-BA63-B76A9997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rPr>
              <a:t>소재 연구의 데이터와 모델을 연결하고</a:t>
            </a:r>
          </a:p>
          <a:p xmlns:a="http://schemas.openxmlformats.org/drawingml/2006/main">
            <a:pPr>
              <a:def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7E2D4"/>
                </a:solidFill>
                <a:latin typeface="Noto Sans CJK KR"/>
                <a:ea typeface="Noto Sans CJK KR"/>
                <a:cs typeface="Noto Sans CJK KR"/>
              </a:rPr>
              <a:t>검토 이력을 함께 보존하는 플랫폼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4FE49B3B-AB6E-4A87-90E9-A71358B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191375"/>
            <a:ext cx="600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D11CC0CE-BF9A-4886-B6F1-69F08B0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54720344-1B87-4434-9B41-421389B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524460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py">
            <a:extLst xmlns:a="http://schemas.openxmlformats.org/drawingml/2006/main">
              <a:ext uri="{FF2B5EF4-FFF2-40B4-BE49-F238E27FC236}">
                <a16:creationId xmlns:a16="http://schemas.microsoft.com/office/drawing/2014/main" id="{A465FCAB-F733-4F6E-A5D4-ADC852F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소재 연구의 작업 흐름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76C7DDA-C304-4191-91C1-F2C5A04A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자료 준비부터 시험 초안까지, 연구 단계별 근거를 연결합니다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4F930B41-6531-45FA-99F0-583C909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52F138A3-B1A0-4CC5-B5F6-D8A0658D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02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AD6C7B1B-E1CE-484F-A9C1-4F8E190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C6195B04-2F0B-43AB-A54C-EFB1C279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D0D39247-9FA3-444D-91E2-56B72E9B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3152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데이터 준비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2A71D079-58F2-4646-B600-F183441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파일과 실험 DB에서 자료 범위 선택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6BE096E1-1213-428B-A450-E716712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FC822440-5E00-43F9-ADA1-AA83D6C2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B3207C3C-468D-44A7-BEDF-7B5030E5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24400"/>
            <a:ext cx="3152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학습과 예측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8C386158-E01A-4610-884D-9048E8CB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483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물성별 모델 비교와 배합 후보 확인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AAA1483-7EBE-4C9A-A7F0-30D6799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94D241C6-1DF2-4A53-90D1-AAC682C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A9958F22-A329-4ED0-BAAD-0FABF25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3152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변경과 검토</a:t>
            </a:r>
          </a:p>
        </p:txBody>
      </p:sp>
      <p:sp>
        <p:nvSpPr>
          <p:cNvPr id="16" name="copy">
            <a:extLst xmlns:a="http://schemas.openxmlformats.org/drawingml/2006/main">
              <a:ext uri="{FF2B5EF4-FFF2-40B4-BE49-F238E27FC236}">
                <a16:creationId xmlns:a16="http://schemas.microsoft.com/office/drawing/2014/main" id="{E4D84DD4-141E-431D-99E8-F59F74B3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483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원본 보존과 Revision별 독립 검토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ADB5D16-E5B1-40F4-9D6D-A53FCF0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0003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AAD73A54-3C78-48BE-AA6A-1CDA440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352800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550" b="0">
                <a:solidFill>
                  <a:srgbClr val="A7BB98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copy">
            <a:extLst xmlns:a="http://schemas.openxmlformats.org/drawingml/2006/main">
              <a:ext uri="{FF2B5EF4-FFF2-40B4-BE49-F238E27FC236}">
                <a16:creationId xmlns:a16="http://schemas.microsoft.com/office/drawing/2014/main" id="{BFD659AE-838D-4ECC-9EBD-F43FD55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724400"/>
            <a:ext cx="3152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시험 연계</a:t>
            </a:r>
          </a:p>
        </p:txBody>
      </p:sp>
      <p:sp>
        <p:nvSpPr>
          <p:cNvPr id="20" name="copy">
            <a:extLst xmlns:a="http://schemas.openxmlformats.org/drawingml/2006/main">
              <a:ext uri="{FF2B5EF4-FFF2-40B4-BE49-F238E27FC236}">
                <a16:creationId xmlns:a16="http://schemas.microsoft.com/office/drawing/2014/main" id="{9F4985EE-7212-4753-B3E8-2497154E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6483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실제 마스터 매핑 후 초안 생성</a:t>
            </a:r>
          </a:p>
        </p:txBody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7F7AC95D-7B5B-4FA6-B989-5DE8954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9525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py">
            <a:extLst xmlns:a="http://schemas.openxmlformats.org/drawingml/2006/main">
              <a:ext uri="{FF2B5EF4-FFF2-40B4-BE49-F238E27FC236}">
                <a16:creationId xmlns:a16="http://schemas.microsoft.com/office/drawing/2014/main" id="{A043D984-FA62-40CE-8D87-F5EA82B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15250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연구·승인 기능은 조직 설정과 권한에 따라 제공합니다</a:t>
            </a:r>
          </a:p>
        </p:txBody>
      </p:sp>
    </p:spTree>
    <p:extLst>
      <p:ext uri="{BB962C8B-B14F-4D97-AF65-F5344CB8AC3E}">
        <p14:creationId xmlns:p14="http://schemas.microsoft.com/office/powerpoint/2010/main" val="1423184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6C9CE39C-A8FE-4320-BA9D-4525BDB3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학습에 사용할 실험 범위 선택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CD113D98-7162-4551-9D4F-243436B7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원재료와 물성, 시험조건을 확인한 데이터셋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524FEE44-8644-4E06-9381-09CA0F5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285782EA-5053-460E-864D-9B5BA27C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03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F30AB5BF-8BD6-437E-ABA8-C7797076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525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49D3D-D6D4-4251-9225-2334D446F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f1a6ad0234f55"/>
          <a:stretch xmlns:a="http://schemas.openxmlformats.org/drawingml/2006/main"/>
        </p:blipFill>
        <p:spPr>
          <a:xfrm xmlns:a="http://schemas.openxmlformats.org/drawingml/2006/main">
            <a:off x="819150" y="2266950"/>
            <a:ext cx="9296400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84CF2B6-5150-4CD1-8EE6-ACCF363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5AA0A59B-BEDA-43A0-9112-B6192ECE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다양한 자료 입력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D9392106-23C6-4EEA-8588-3840D334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파일 업로드와 실험 DB 추출, 저장 자료 재사용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9C147A2B-06A0-42C8-BA4F-DE79B3B3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0C74F6C8-2BFE-4F11-8CBB-22CD46C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01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선택 근거 보존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6695DFD9-1A58-4A4A-806B-8FE7935C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자료 출처와 버전, 물성별 유효 자료 확인</a:t>
            </a:r>
          </a:p>
        </p:txBody>
      </p:sp>
    </p:spTree>
    <p:extLst>
      <p:ext uri="{BB962C8B-B14F-4D97-AF65-F5344CB8AC3E}">
        <p14:creationId xmlns:p14="http://schemas.microsoft.com/office/powerpoint/2010/main" val="1720292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31D1F10F-E43B-4210-A218-62DFEEB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물성별로 비교하는 독립·공동 학습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6FC7CADB-1CA9-4BF0-B68E-82D2918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같은 샘플의 여러 물성을 다루고 검증 결과로 후보를 선택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C5CBC275-7093-486E-BA7C-C2975A6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00C5FBE6-D620-45D1-88F4-1D669122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04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6431D422-0E78-455D-90B2-7EF8EE30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525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7217D-64A1-4112-97C9-F52748C12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52f92b4a34708"/>
          <a:stretch xmlns:a="http://schemas.openxmlformats.org/drawingml/2006/main"/>
        </p:blipFill>
        <p:spPr>
          <a:xfrm xmlns:a="http://schemas.openxmlformats.org/drawingml/2006/main">
            <a:off x="819150" y="2266950"/>
            <a:ext cx="9296400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1341B4F-1A99-44DF-9767-85174C2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E4478392-A7C9-432B-BA53-6F97FE5E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두 가지 학습 방식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895B7118-757C-4630-843F-3E933287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물성별 독립 학습과 샘플 단위 다중 물성 비교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A60B3D89-ED90-4092-AED9-8194E70F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FA9544D9-592A-40B4-9FDD-B3421DC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01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검증 결과 확인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BD0D12E3-7EB5-4860-A3FD-765E9C3D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물성별 오차와 적용 범위를 함께 검토</a:t>
            </a:r>
          </a:p>
        </p:txBody>
      </p:sp>
    </p:spTree>
    <p:extLst>
      <p:ext uri="{BB962C8B-B14F-4D97-AF65-F5344CB8AC3E}">
        <p14:creationId xmlns:p14="http://schemas.microsoft.com/office/powerpoint/2010/main" val="1087133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51DC0373-D273-4CA6-9860-18B4D95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목표 조건을 반영한 배합 설계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6158DF72-2297-4D49-B463-1F666CC1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예측과 추천, 미세증분을 연구자의 검토로 연결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5DCDF9B3-B34D-4521-9E8F-CF988EE7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FD976B78-08A5-4BCC-893C-26F67201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05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ABD92239-5E0E-4B8C-8896-4B53ECA0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525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EF8DA-E12D-4461-ADEE-EB6700A06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0f918d0ab4149"/>
          <a:stretch xmlns:a="http://schemas.openxmlformats.org/drawingml/2006/main"/>
        </p:blipFill>
        <p:spPr>
          <a:xfrm xmlns:a="http://schemas.openxmlformats.org/drawingml/2006/main">
            <a:off x="819150" y="2266950"/>
            <a:ext cx="9296400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6A6E11A-9174-416D-AF9C-4F7FA65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9A881709-9387-475A-9601-CE9D292A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배합 후보 비교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56E45B18-1EA0-49D7-AF21-5707A11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물성 목표와 원재료 투입량·조건을 함께 확인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394BBA1B-3368-4C23-A79E-FAE56662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6C99D29B-1E46-4823-90CB-D8E4C993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01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변경 영향 검토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88DE5AF5-F3EB-4187-BE4A-0805D4F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같은 모델로 미세증분과 치환 후보를 비교</a:t>
            </a:r>
          </a:p>
        </p:txBody>
      </p:sp>
    </p:spTree>
    <p:extLst>
      <p:ext uri="{BB962C8B-B14F-4D97-AF65-F5344CB8AC3E}">
        <p14:creationId xmlns:p14="http://schemas.microsoft.com/office/powerpoint/2010/main" val="1536645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AF8746A9-4FCF-4CB6-AEA1-13F30AF4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문헌 근거와 원문을 함께 확인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1A677A6C-4358-4604-8298-804C223C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TDS와 논문·특허, 내부 보고서를 연구 근거로 활용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F40C927C-1873-4563-B633-0FA4F84B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DD951747-A40C-47C2-91AA-1468EDFD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06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4C164582-0867-42F5-BC58-58CA6691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525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F888D-8942-435F-8480-D9F41D1D6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f0b5090c14026"/>
          <a:stretch xmlns:a="http://schemas.openxmlformats.org/drawingml/2006/main"/>
        </p:blipFill>
        <p:spPr>
          <a:xfrm xmlns:a="http://schemas.openxmlformats.org/drawingml/2006/main">
            <a:off x="819150" y="2266950"/>
            <a:ext cx="9296400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94AED9B-7890-4DAC-B6E6-76E7B4A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DBA8E341-6DA0-45B8-9682-2911CF36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출처와 보존 상태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5E09E915-486E-45A1-97B7-509E2521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초록·추출 원문·원본 파일을 구분해 확인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CE9F0975-04BD-414D-B123-E128ED0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78D96D79-CD8F-4BE4-8C11-F949CC87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01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원문 조회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335DB136-5EF0-4CB1-925F-ACC7FDD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보존한 원문을 읽고 원본 파일을 다운로드</a:t>
            </a:r>
          </a:p>
        </p:txBody>
      </p:sp>
    </p:spTree>
    <p:extLst>
      <p:ext uri="{BB962C8B-B14F-4D97-AF65-F5344CB8AC3E}">
        <p14:creationId xmlns:p14="http://schemas.microsoft.com/office/powerpoint/2010/main" val="381477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6F5643FE-9516-4CA1-9D7B-760CA047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검토 이력이 남는 시험 연계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33E57030-7419-40DB-BD7A-2A98C665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배합 변경 이유와 선정 근거를 시험 계획에 연결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CD53F47E-00D3-4E55-A7E4-CB9854DE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DC795B26-D489-44FD-80BF-9DF9431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07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62CAF25B-FDAF-4C7B-B178-1E3F012D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525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DCFB4-141C-4A2A-BCBD-9BF31D6D3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4ba3a44a34ad2"/>
          <a:stretch xmlns:a="http://schemas.openxmlformats.org/drawingml/2006/main"/>
        </p:blipFill>
        <p:spPr>
          <a:xfrm xmlns:a="http://schemas.openxmlformats.org/drawingml/2006/main">
            <a:off x="819150" y="2266950"/>
            <a:ext cx="9296400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D61E755-9A70-4C7F-BC61-E4780D5D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2BCEAEA0-8558-45E8-8CD5-27C8624E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원본과 변경본 보존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D9D645CB-B704-47BA-8E58-52B0DED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Revision별 조성·예측·변경 사유를 비교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C459366-2EBC-457E-8CEB-A432825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FA02C9A0-E8AB-49F3-9EBA-B39051D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01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검토 후 시험 준비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7BC9BC7B-618A-4224-BB60-A7EFCA9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독립 검토와 마스터 매핑을 거쳐 초안 확인</a:t>
            </a:r>
          </a:p>
        </p:txBody>
      </p:sp>
    </p:spTree>
    <p:extLst>
      <p:ext uri="{BB962C8B-B14F-4D97-AF65-F5344CB8AC3E}">
        <p14:creationId xmlns:p14="http://schemas.microsoft.com/office/powerpoint/2010/main" val="1682986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F41AC07F-FE53-43C9-A3AD-785C4B3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데이터셋마다 이어지는 연구 작업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F8168063-0142-46D9-9C7E-5DFE198F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현재 질문의 데이터와 모델 연결을 확인하는 작업 공간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5A970255-5418-48CF-B0A5-513D15DB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2B3C51FF-1F25-4C05-BAA1-229BB56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08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0A960AD0-101F-403F-997B-06AA299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525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94308-DF73-4374-87FF-DFDA882E0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0a87d72b64dda"/>
          <a:stretch xmlns:a="http://schemas.openxmlformats.org/drawingml/2006/main"/>
        </p:blipFill>
        <p:spPr>
          <a:xfrm xmlns:a="http://schemas.openxmlformats.org/drawingml/2006/main">
            <a:off x="819150" y="2266950"/>
            <a:ext cx="9296400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E0F296C-05B6-4E57-924A-9D8B4D6D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01F8645B-F859-4F5C-8F2A-168429E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작업별 데이터 연결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5AAAAED1-A950-4FBD-A346-0BD388D2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다른 자료는 새 작업에서 시작하거나 명시적으로 교체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143A1EB9-398D-4421-92C2-8F31307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3BE10B72-E6FB-4B9D-AC10-D3BDBDA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0175"/>
            <a:ext cx="3819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현재 상태 확인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D770BE1B-93E8-434C-BF55-155F866F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38195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데이터셋 버전과 학습 방식, 모델 실행을 표시</a:t>
            </a:r>
          </a:p>
        </p:txBody>
      </p:sp>
    </p:spTree>
    <p:extLst>
      <p:ext uri="{BB962C8B-B14F-4D97-AF65-F5344CB8AC3E}">
        <p14:creationId xmlns:p14="http://schemas.microsoft.com/office/powerpoint/2010/main" val="670311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py">
            <a:extLst xmlns:a="http://schemas.openxmlformats.org/drawingml/2006/main">
              <a:ext uri="{FF2B5EF4-FFF2-40B4-BE49-F238E27FC236}">
                <a16:creationId xmlns:a16="http://schemas.microsoft.com/office/drawing/2014/main" id="{E3E603D1-CA87-482E-8061-5C029C86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조직의 운영 환경에 맞춘 구성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7EA8C861-EE74-47FF-BDCB-88B6F14F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보유 데이터와 사용자 권한, 승인한 AI 공급자를 연결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CBAF030B-C85C-4240-9BB9-6DB8299A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4C4BEB91-1020-43A2-9DDF-06CD13DE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09 / 10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270A4DAF-E6E8-4957-8776-58251AB4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4248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6199D047-6DBE-4DC6-8FC4-80780A30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861706A1-10F7-4C98-9758-ADCCE422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실험 데이터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CE1DDD1F-FD40-4844-8539-333E74C9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원본 DB 조회 전용 연결</a:t>
            </a:r>
          </a:p>
          <a:p xmlns:a="http://schemas.openxmlformats.org/drawingml/2006/main">
            <a: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선택 자료의 스냅숏 보존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9C15BD41-7802-4BE7-A463-8F2BBEE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19400"/>
            <a:ext cx="4248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C11D9E0A-1793-4D2B-8659-0A66EF7C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146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B716402B-8F13-43F6-8569-CE43C06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연구 작업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4E18AF63-E17B-424E-912D-8824AC7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0540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rPr>
              <a:t>데이터셋과 수치 모델 연결</a:t>
            </a:r>
          </a:p>
          <a:p xmlns:a="http://schemas.openxmlformats.org/drawingml/2006/main">
            <a:pPr>
              <a:def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C8D9C2"/>
                </a:solidFill>
                <a:latin typeface="Noto Sans CJK KR"/>
                <a:ea typeface="Noto Sans CJK KR"/>
                <a:cs typeface="Noto Sans CJK KR"/>
              </a:rPr>
              <a:t>질문·실행·검토 이력 관리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36FD863-DDE1-4794-B1DD-3C521D29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4248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FBE0C833-0E2A-45F3-A980-2BB47675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146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BAF8A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45F0F385-DE1A-404B-8151-DDC26A7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1338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AI와 시험평가</a:t>
            </a:r>
          </a:p>
        </p:txBody>
      </p:sp>
      <p:sp>
        <p:nvSpPr>
          <p:cNvPr id="16" name="copy">
            <a:extLst xmlns:a="http://schemas.openxmlformats.org/drawingml/2006/main">
              <a:ext uri="{FF2B5EF4-FFF2-40B4-BE49-F238E27FC236}">
                <a16:creationId xmlns:a16="http://schemas.microsoft.com/office/drawing/2014/main" id="{4D0CE358-A089-4962-A33F-12C5475F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10540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설정한 AI 공급자 사용</a:t>
            </a:r>
          </a:p>
          <a:p xmlns:a="http://schemas.openxmlformats.org/drawingml/2006/main">
            <a:pPr>
              <a:def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검토한 후보의 시험 초안 연결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72C94311-B1FA-4864-9C5B-EE327A1A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10450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58517479-E97D-4FE9-A88E-E7879909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496175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공급자 연결과 연구·승인 기능은 조직 설정에 따라 제공합니다</a:t>
            </a:r>
          </a:p>
        </p:txBody>
      </p:sp>
    </p:spTree>
    <p:extLst>
      <p:ext uri="{BB962C8B-B14F-4D97-AF65-F5344CB8AC3E}">
        <p14:creationId xmlns:p14="http://schemas.microsoft.com/office/powerpoint/2010/main" val="1034321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2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FA8646A4-E1F9-46CB-993F-BD70295C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1891A98D-029F-4886-8C70-25491FA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1343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보유한 실험 자료로</a:t>
            </a:r>
          </a:p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기능을 확인하는 도입 검토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B520BA02-732D-4F6E-A5D5-07EFA26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91050"/>
            <a:ext cx="1323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rPr>
              <a:t>데이터 매핑과 평가자료, 사용자 역할을 정한 뒤 연구 시나리오를 확인합니다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6BBFC8F3-BEAF-4A08-941C-FD674F9C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4124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8123362D-5DA4-4AFC-8B60-FE62618B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rPr>
              <a:t>자료 확인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6292CA5F-01DE-4D2C-8F8F-DF975E93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53250"/>
            <a:ext cx="4105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rPr>
              <a:t>샘플·원재료·물성·시험조건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3473430-5487-46FD-8DD5-C214CD2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81700"/>
            <a:ext cx="4124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DBB43678-897F-4731-A009-E851D56F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0555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rPr>
              <a:t>검증 준비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E8333D60-7763-438F-807D-B394357B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4105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rPr>
              <a:t>미사용 평가자료와 비교 기준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9F403B55-902B-4CDE-9ABF-5799167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81700"/>
            <a:ext cx="4124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AF35B013-20A0-4F26-A766-855AEAA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30555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D9F780"/>
                </a:solidFill>
                <a:latin typeface="Noto Sans CJK KR"/>
                <a:ea typeface="Noto Sans CJK KR"/>
                <a:cs typeface="Noto Sans CJK KR"/>
              </a:rPr>
              <a:t>업무 확인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647AC150-FDC4-440F-AE7A-8C5B38BB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953250"/>
            <a:ext cx="4105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C7D7C1"/>
                </a:solidFill>
                <a:latin typeface="Noto Sans CJK KR"/>
                <a:ea typeface="Noto Sans CJK KR"/>
                <a:cs typeface="Noto Sans CJK KR"/>
              </a:rPr>
              <a:t>검토 권한과 시험 초안 절차</a:t>
            </a:r>
          </a:p>
        </p:txBody>
      </p:sp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BB5CF334-DBF6-4397-9B0A-F379136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AD8F6230-F343-4E26-BA76-2879277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062196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2026-10-18T06:37:22.7020000Z</dcterms:created>
  <dcterms:modified xsi:type="dcterms:W3CDTF">2026-10-18T06:37:22.7020000Z</dcterms:modified>
</coreProperties>
</file>